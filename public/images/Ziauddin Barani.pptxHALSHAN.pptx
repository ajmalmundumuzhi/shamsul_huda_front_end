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7" d="100"/>
          <a:sy n="87" d="100"/>
        </p:scale>
        <p:origin x="749"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C6680-593B-56D2-69F3-442A0A166A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63C376F-CB6F-951E-DC07-34D60C2832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8BD8D8-89B3-C1AC-F829-DC14D015D644}"/>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1A9CA1D5-FEF6-4571-BDED-52CBEB4693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5B9110-B061-5580-7A72-7F93C198933C}"/>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854534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88F36-1378-DD8A-EA14-49CBD4CC93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A05B25-7168-CB0E-F38C-ACFEC76D53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06C3A3-C65D-3EBA-5581-944D89FB246C}"/>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DFCDFE78-2F79-1C46-4EE5-2752BC03FA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917044-EF7A-6669-B619-DC266420F80C}"/>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283462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1979-EBE5-DF3B-F137-55472D979F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39E1B35-8BD0-73E4-4334-4F69A06FCA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0B6F6C-3222-F212-E02A-3BF9E2AABFEB}"/>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B49ECC9C-CEDF-9663-0216-9C8B588254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1B4C30-1F11-D22E-4621-7BE171FC9675}"/>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3757677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8D9AB-0979-EFAD-557D-F28AB3C586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085D13-88A3-EDCA-95F2-98E24262FB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D6C09F4-4A5F-6D86-998D-BA5577DF3B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DF36991-97CD-9F4F-2DC2-E009E6D89A20}"/>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6" name="Footer Placeholder 5">
            <a:extLst>
              <a:ext uri="{FF2B5EF4-FFF2-40B4-BE49-F238E27FC236}">
                <a16:creationId xmlns:a16="http://schemas.microsoft.com/office/drawing/2014/main" id="{D96EEF19-CB97-1698-B95C-4AA15C2252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D2DE25-7588-7C38-39A0-A05520E5C963}"/>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585365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EBA56-EF93-5D2F-B1A1-280A2B47D5B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DB6A2D-AD7F-0A13-828F-461A4AAE15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28A671-3555-C115-2BCF-80C5E50578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B94C63-FEC8-E64D-32E1-AC298A980A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835385-D854-DA9E-8FBA-51F733F606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107B90-1701-5500-6B6D-E0FAF5015713}"/>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8" name="Footer Placeholder 7">
            <a:extLst>
              <a:ext uri="{FF2B5EF4-FFF2-40B4-BE49-F238E27FC236}">
                <a16:creationId xmlns:a16="http://schemas.microsoft.com/office/drawing/2014/main" id="{67B52CC6-67B9-E83B-06C4-0FBC60C1C7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BEDBB05-945A-15AB-24AA-616A146FB20C}"/>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1505638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14929-9C88-2E6E-C515-FA9DCBF359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DD03D7-A206-9FC1-A5FE-0A43A2AEC784}"/>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4" name="Footer Placeholder 3">
            <a:extLst>
              <a:ext uri="{FF2B5EF4-FFF2-40B4-BE49-F238E27FC236}">
                <a16:creationId xmlns:a16="http://schemas.microsoft.com/office/drawing/2014/main" id="{8D621017-4151-7FE9-B97E-F9D01C83D2C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6C2E13-A0B9-E80A-05A7-88771228C656}"/>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83723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96F8F3-434E-07FF-7092-405D2CEEA944}"/>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3" name="Footer Placeholder 2">
            <a:extLst>
              <a:ext uri="{FF2B5EF4-FFF2-40B4-BE49-F238E27FC236}">
                <a16:creationId xmlns:a16="http://schemas.microsoft.com/office/drawing/2014/main" id="{70D460DE-C09F-AD95-E28B-A58A0D7080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411A86-5FD1-0721-EF6A-D6B6A5729BC0}"/>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929530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4796D-3AD1-1C8F-43A1-DEE62AF2F4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22098D9-33BC-34CC-06F7-AE69A2DC07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12206D-6631-7262-63D0-644008AEDE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92AA26-CB24-183A-72EA-C02A204A56ED}"/>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6" name="Footer Placeholder 5">
            <a:extLst>
              <a:ext uri="{FF2B5EF4-FFF2-40B4-BE49-F238E27FC236}">
                <a16:creationId xmlns:a16="http://schemas.microsoft.com/office/drawing/2014/main" id="{1A93DF6C-BCE2-D2A2-C6B8-A3EFD00F46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ECA452-D45D-5BAA-E661-53D0B4029D5C}"/>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18881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FC365-FCFE-81F8-93B1-4686100A4B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11FE10-E1BD-27A1-3B57-25A1F1438B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BCA029F-AD26-28F1-59A0-5F4062E868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E89F69-0C94-18F6-F3A1-E5F1C788E60B}"/>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6" name="Footer Placeholder 5">
            <a:extLst>
              <a:ext uri="{FF2B5EF4-FFF2-40B4-BE49-F238E27FC236}">
                <a16:creationId xmlns:a16="http://schemas.microsoft.com/office/drawing/2014/main" id="{F6F3EA09-06D6-389E-BBFC-0A0380C34A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BAAF81-1813-720E-FA58-D24B34998A05}"/>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412693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C293D-B0A6-93C9-801D-F3F3382B3E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7159B6-3541-BF91-5044-60DCF87EC1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767B05-5819-9FF1-FF31-C3D576C2052F}"/>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B3ECEC30-1B26-FF6D-E3EA-FB85401464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F66248-9F42-4873-DC37-D0B612865AC8}"/>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439752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8317C3-5421-ADA8-036B-A5EE9A0F41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5993BD-5EB3-0294-4EB1-A41E0DB9DC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E26638-19B5-D737-BFF1-2F9A84B8177E}"/>
              </a:ext>
            </a:extLst>
          </p:cNvPr>
          <p:cNvSpPr>
            <a:spLocks noGrp="1"/>
          </p:cNvSpPr>
          <p:nvPr>
            <p:ph type="dt" sz="half" idx="10"/>
          </p:nvPr>
        </p:nvSpPr>
        <p:spPr/>
        <p:txBody>
          <a:body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F3DF1DD0-F463-9B28-F4E4-03D4E9AA7F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FD604D-4C67-E0BC-898E-6FE119C1998E}"/>
              </a:ext>
            </a:extLst>
          </p:cNvPr>
          <p:cNvSpPr>
            <a:spLocks noGrp="1"/>
          </p:cNvSpPr>
          <p:nvPr>
            <p:ph type="sldNum" sz="quarter" idx="12"/>
          </p:nvPr>
        </p:nvSpPr>
        <p:spPr/>
        <p:txBody>
          <a:bodyPr/>
          <a:lstStyle/>
          <a:p>
            <a:fld id="{904A7B29-51AB-448B-A4BB-CAAABAC73105}" type="slidenum">
              <a:rPr lang="en-IN" smtClean="0"/>
              <a:t>‹#›</a:t>
            </a:fld>
            <a:endParaRPr lang="en-IN"/>
          </a:p>
        </p:txBody>
      </p:sp>
    </p:spTree>
    <p:extLst>
      <p:ext uri="{BB962C8B-B14F-4D97-AF65-F5344CB8AC3E}">
        <p14:creationId xmlns:p14="http://schemas.microsoft.com/office/powerpoint/2010/main" val="2257614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E4939-55BA-F340-71AB-9AB075DE88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A663DD-ADA7-BA59-1557-E3A46E29AD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425593-A81C-6E78-007D-F88EB3EE0C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C27C38-C50A-49FB-839D-1CB1F135C346}" type="datetimeFigureOut">
              <a:rPr lang="en-IN" smtClean="0"/>
              <a:t>02-02-2025</a:t>
            </a:fld>
            <a:endParaRPr lang="en-IN"/>
          </a:p>
        </p:txBody>
      </p:sp>
      <p:sp>
        <p:nvSpPr>
          <p:cNvPr id="5" name="Footer Placeholder 4">
            <a:extLst>
              <a:ext uri="{FF2B5EF4-FFF2-40B4-BE49-F238E27FC236}">
                <a16:creationId xmlns:a16="http://schemas.microsoft.com/office/drawing/2014/main" id="{7F8359ED-814A-8526-3D62-6E805970CE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01922F-24D4-A1B9-C998-E79C26518E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4A7B29-51AB-448B-A4BB-CAAABAC73105}" type="slidenum">
              <a:rPr lang="en-IN" smtClean="0"/>
              <a:t>‹#›</a:t>
            </a:fld>
            <a:endParaRPr lang="en-IN"/>
          </a:p>
        </p:txBody>
      </p:sp>
    </p:spTree>
    <p:extLst>
      <p:ext uri="{BB962C8B-B14F-4D97-AF65-F5344CB8AC3E}">
        <p14:creationId xmlns:p14="http://schemas.microsoft.com/office/powerpoint/2010/main" val="4069994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CB0C-EB3B-DCA6-C735-E701F0845DA4}"/>
              </a:ext>
            </a:extLst>
          </p:cNvPr>
          <p:cNvSpPr>
            <a:spLocks noGrp="1"/>
          </p:cNvSpPr>
          <p:nvPr>
            <p:ph type="ctrTitle"/>
          </p:nvPr>
        </p:nvSpPr>
        <p:spPr>
          <a:xfrm>
            <a:off x="1524000" y="1"/>
            <a:ext cx="9144000" cy="1428750"/>
          </a:xfrm>
        </p:spPr>
        <p:txBody>
          <a:bodyPr/>
          <a:lstStyle/>
          <a:p>
            <a:r>
              <a:rPr lang="en-US" dirty="0"/>
              <a:t> Ziauddin Barani </a:t>
            </a:r>
            <a:endParaRPr lang="en-IN" dirty="0"/>
          </a:p>
        </p:txBody>
      </p:sp>
      <p:sp>
        <p:nvSpPr>
          <p:cNvPr id="3" name="Subtitle 2">
            <a:extLst>
              <a:ext uri="{FF2B5EF4-FFF2-40B4-BE49-F238E27FC236}">
                <a16:creationId xmlns:a16="http://schemas.microsoft.com/office/drawing/2014/main" id="{26166CF5-D11C-C47C-E80A-F674CC9DF5BF}"/>
              </a:ext>
            </a:extLst>
          </p:cNvPr>
          <p:cNvSpPr>
            <a:spLocks noGrp="1"/>
          </p:cNvSpPr>
          <p:nvPr>
            <p:ph type="subTitle" idx="1"/>
          </p:nvPr>
        </p:nvSpPr>
        <p:spPr>
          <a:xfrm>
            <a:off x="0" y="1323833"/>
            <a:ext cx="7997588" cy="5431809"/>
          </a:xfrm>
        </p:spPr>
        <p:txBody>
          <a:bodyPr>
            <a:noAutofit/>
          </a:bodyPr>
          <a:lstStyle/>
          <a:p>
            <a:pPr algn="l"/>
            <a:r>
              <a:rPr lang="en-US" sz="3200" b="1" dirty="0">
                <a:solidFill>
                  <a:schemeClr val="accent1"/>
                </a:solidFill>
              </a:rPr>
              <a:t>Introduction</a:t>
            </a:r>
          </a:p>
          <a:p>
            <a:pPr algn="l">
              <a:buFont typeface="Arial" panose="020B0604020202020204" pitchFamily="34" charset="0"/>
              <a:buChar char="•"/>
            </a:pPr>
            <a:r>
              <a:rPr lang="en-US" sz="3200" dirty="0"/>
              <a:t>     Ziauddin Barani (1285–1357 CE) was a </a:t>
            </a:r>
            <a:r>
              <a:rPr lang="en-US" sz="3200" b="1" dirty="0"/>
              <a:t>historian and political thinker</a:t>
            </a:r>
            <a:r>
              <a:rPr lang="en-US" sz="3200" dirty="0"/>
              <a:t> of the Delhi Sultanate.</a:t>
            </a:r>
          </a:p>
          <a:p>
            <a:pPr marL="342900" indent="-342900" algn="l">
              <a:buFont typeface="Arial" panose="020B0604020202020204" pitchFamily="34" charset="0"/>
              <a:buChar char="•"/>
            </a:pPr>
            <a:r>
              <a:rPr lang="en-US" sz="3200" dirty="0"/>
              <a:t>Served in the court of </a:t>
            </a:r>
            <a:r>
              <a:rPr lang="en-US" sz="3200" b="1" dirty="0"/>
              <a:t>Muhammad bin Tughlaq</a:t>
            </a:r>
            <a:r>
              <a:rPr lang="en-US" sz="3200" dirty="0"/>
              <a:t> and </a:t>
            </a:r>
            <a:r>
              <a:rPr lang="en-US" sz="3200" b="1" dirty="0" err="1"/>
              <a:t>Firuz</a:t>
            </a:r>
            <a:r>
              <a:rPr lang="en-US" sz="3200" b="1" dirty="0"/>
              <a:t> Shah Tughlaq</a:t>
            </a:r>
            <a:r>
              <a:rPr lang="en-US" sz="3200" dirty="0"/>
              <a:t>.</a:t>
            </a:r>
          </a:p>
          <a:p>
            <a:pPr algn="l">
              <a:buFont typeface="Arial" panose="020B0604020202020204" pitchFamily="34" charset="0"/>
              <a:buChar char="•"/>
            </a:pPr>
            <a:r>
              <a:rPr lang="en-US" sz="3200" dirty="0"/>
              <a:t>Known for his </a:t>
            </a:r>
            <a:r>
              <a:rPr lang="en-US" sz="3200" b="1" dirty="0"/>
              <a:t>Persian historical writings</a:t>
            </a:r>
            <a:r>
              <a:rPr lang="en-US" sz="3200" dirty="0"/>
              <a:t>, especially his analysis of </a:t>
            </a:r>
            <a:r>
              <a:rPr lang="en-US" sz="3200" b="1" dirty="0"/>
              <a:t>state, society, and caste</a:t>
            </a:r>
            <a:r>
              <a:rPr lang="en-US" sz="3200" dirty="0"/>
              <a:t>.</a:t>
            </a:r>
          </a:p>
          <a:p>
            <a:pPr algn="l"/>
            <a:endParaRPr lang="en-IN" sz="3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2369" y="3466530"/>
            <a:ext cx="4615455" cy="2920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7618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2534E-0F85-D10A-C14A-74AD25C51BF0}"/>
              </a:ext>
            </a:extLst>
          </p:cNvPr>
          <p:cNvSpPr>
            <a:spLocks noGrp="1"/>
          </p:cNvSpPr>
          <p:nvPr>
            <p:ph type="title"/>
          </p:nvPr>
        </p:nvSpPr>
        <p:spPr>
          <a:xfrm>
            <a:off x="0" y="0"/>
            <a:ext cx="10515600" cy="1325563"/>
          </a:xfrm>
        </p:spPr>
        <p:txBody>
          <a:bodyPr/>
          <a:lstStyle/>
          <a:p>
            <a:r>
              <a:rPr lang="en-US" b="1" dirty="0"/>
              <a:t>Major Works:</a:t>
            </a:r>
            <a:br>
              <a:rPr lang="en-US" b="1" dirty="0"/>
            </a:br>
            <a:endParaRPr lang="en-IN" dirty="0"/>
          </a:p>
        </p:txBody>
      </p:sp>
      <p:sp>
        <p:nvSpPr>
          <p:cNvPr id="3" name="Content Placeholder 2">
            <a:extLst>
              <a:ext uri="{FF2B5EF4-FFF2-40B4-BE49-F238E27FC236}">
                <a16:creationId xmlns:a16="http://schemas.microsoft.com/office/drawing/2014/main" id="{E41318E4-497B-2C63-30D2-13D3046E47E1}"/>
              </a:ext>
            </a:extLst>
          </p:cNvPr>
          <p:cNvSpPr>
            <a:spLocks noGrp="1"/>
          </p:cNvSpPr>
          <p:nvPr>
            <p:ph idx="1"/>
          </p:nvPr>
        </p:nvSpPr>
        <p:spPr>
          <a:xfrm>
            <a:off x="1157288" y="0"/>
            <a:ext cx="10196511" cy="6176963"/>
          </a:xfrm>
        </p:spPr>
        <p:txBody>
          <a:bodyPr>
            <a:noAutofit/>
          </a:bodyPr>
          <a:lstStyle/>
          <a:p>
            <a:pPr marL="0" indent="0">
              <a:buNone/>
            </a:pPr>
            <a:endParaRPr lang="en-US" b="1" dirty="0"/>
          </a:p>
          <a:p>
            <a:r>
              <a:rPr lang="en-US" b="1" dirty="0"/>
              <a:t>1)Tarikh-</a:t>
            </a:r>
            <a:r>
              <a:rPr lang="en-US" b="1" dirty="0" err="1"/>
              <a:t>i</a:t>
            </a:r>
            <a:r>
              <a:rPr lang="en-US" b="1" dirty="0"/>
              <a:t>-</a:t>
            </a:r>
            <a:r>
              <a:rPr lang="en-US" b="1" dirty="0" err="1"/>
              <a:t>Firuz</a:t>
            </a:r>
            <a:r>
              <a:rPr lang="en-US" b="1" dirty="0"/>
              <a:t> Shahi</a:t>
            </a:r>
          </a:p>
          <a:p>
            <a:pPr>
              <a:buFont typeface="Arial" panose="020B0604020202020204" pitchFamily="34" charset="0"/>
              <a:buChar char="•"/>
            </a:pPr>
            <a:r>
              <a:rPr lang="en-US" dirty="0"/>
              <a:t>A </a:t>
            </a:r>
            <a:r>
              <a:rPr lang="en-US" b="1" dirty="0"/>
              <a:t>historical chronicle</a:t>
            </a:r>
            <a:r>
              <a:rPr lang="en-US" dirty="0"/>
              <a:t> covering the period from </a:t>
            </a:r>
            <a:r>
              <a:rPr lang="en-US" b="1" dirty="0"/>
              <a:t>Balban (1266 CE) to </a:t>
            </a:r>
            <a:r>
              <a:rPr lang="en-US" b="1" dirty="0" err="1"/>
              <a:t>Firuz</a:t>
            </a:r>
            <a:r>
              <a:rPr lang="en-US" b="1" dirty="0"/>
              <a:t> Shah Tughlaq (1351 CE)</a:t>
            </a:r>
            <a:r>
              <a:rPr lang="en-US" dirty="0"/>
              <a:t>.</a:t>
            </a:r>
          </a:p>
          <a:p>
            <a:pPr>
              <a:buFont typeface="Arial" panose="020B0604020202020204" pitchFamily="34" charset="0"/>
              <a:buChar char="•"/>
            </a:pPr>
            <a:r>
              <a:rPr lang="en-US" dirty="0"/>
              <a:t>Focuses on the </a:t>
            </a:r>
            <a:r>
              <a:rPr lang="en-US" b="1" dirty="0"/>
              <a:t>political and administrative history</a:t>
            </a:r>
            <a:r>
              <a:rPr lang="en-US" dirty="0"/>
              <a:t> of the Delhi Sultanate.</a:t>
            </a:r>
          </a:p>
          <a:p>
            <a:pPr>
              <a:buFont typeface="Arial" panose="020B0604020202020204" pitchFamily="34" charset="0"/>
              <a:buChar char="•"/>
            </a:pPr>
            <a:r>
              <a:rPr lang="en-US" dirty="0"/>
              <a:t>Criticizes the policies of Muhammad bin Tughlaq.</a:t>
            </a:r>
          </a:p>
          <a:p>
            <a:r>
              <a:rPr lang="en-US" b="1" dirty="0"/>
              <a:t>2) Fatwa-</a:t>
            </a:r>
            <a:r>
              <a:rPr lang="en-US" b="1" dirty="0" err="1"/>
              <a:t>i</a:t>
            </a:r>
            <a:r>
              <a:rPr lang="en-US" b="1" dirty="0"/>
              <a:t>-</a:t>
            </a:r>
            <a:r>
              <a:rPr lang="en-US" b="1" dirty="0" err="1"/>
              <a:t>Jahandari</a:t>
            </a:r>
            <a:endParaRPr lang="en-US" b="1" dirty="0"/>
          </a:p>
          <a:p>
            <a:pPr>
              <a:buFont typeface="Arial" panose="020B0604020202020204" pitchFamily="34" charset="0"/>
              <a:buChar char="•"/>
            </a:pPr>
            <a:r>
              <a:rPr lang="en-US" dirty="0"/>
              <a:t>A political treatise emphasizing </a:t>
            </a:r>
            <a:r>
              <a:rPr lang="en-US" b="1" dirty="0"/>
              <a:t>Islamic governance</a:t>
            </a:r>
            <a:r>
              <a:rPr lang="en-US" dirty="0"/>
              <a:t> and </a:t>
            </a:r>
            <a:r>
              <a:rPr lang="en-US" b="1" dirty="0"/>
              <a:t>social hierarchy</a:t>
            </a:r>
            <a:r>
              <a:rPr lang="en-US" dirty="0"/>
              <a:t>.</a:t>
            </a:r>
          </a:p>
          <a:p>
            <a:pPr>
              <a:buFont typeface="Arial" panose="020B0604020202020204" pitchFamily="34" charset="0"/>
              <a:buChar char="•"/>
            </a:pPr>
            <a:r>
              <a:rPr lang="en-US" dirty="0"/>
              <a:t>Advocates for a </a:t>
            </a:r>
            <a:r>
              <a:rPr lang="en-US" b="1" dirty="0"/>
              <a:t>strict division between the ruling class and common people</a:t>
            </a:r>
            <a:r>
              <a:rPr lang="en-US" dirty="0"/>
              <a:t>.</a:t>
            </a:r>
          </a:p>
          <a:p>
            <a:pPr>
              <a:buFont typeface="Arial" panose="020B0604020202020204" pitchFamily="34" charset="0"/>
              <a:buChar char="•"/>
            </a:pPr>
            <a:r>
              <a:rPr lang="en-US" dirty="0"/>
              <a:t>Promotes </a:t>
            </a:r>
            <a:r>
              <a:rPr lang="en-US" b="1" dirty="0"/>
              <a:t>discrimination against non-Muslims</a:t>
            </a:r>
            <a:r>
              <a:rPr lang="en-US" dirty="0"/>
              <a:t> in administration.</a:t>
            </a:r>
            <a:endParaRPr lang="en-US" b="1" dirty="0"/>
          </a:p>
          <a:p>
            <a:pPr>
              <a:buFont typeface="Arial" panose="020B0604020202020204" pitchFamily="34" charset="0"/>
              <a:buChar char="•"/>
            </a:pPr>
            <a:r>
              <a:rPr lang="en-US" b="1" dirty="0" err="1"/>
              <a:t>Hasht-Bihisht</a:t>
            </a:r>
            <a:r>
              <a:rPr lang="en-US" b="1" dirty="0"/>
              <a:t> (Eight Paradises)</a:t>
            </a:r>
            <a:r>
              <a:rPr lang="en-US" dirty="0"/>
              <a:t> – A lesser-known work on history.</a:t>
            </a:r>
          </a:p>
          <a:p>
            <a:endParaRPr lang="en-IN" dirty="0"/>
          </a:p>
        </p:txBody>
      </p:sp>
    </p:spTree>
    <p:extLst>
      <p:ext uri="{BB962C8B-B14F-4D97-AF65-F5344CB8AC3E}">
        <p14:creationId xmlns:p14="http://schemas.microsoft.com/office/powerpoint/2010/main" val="3692012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1429472" flipV="1">
            <a:off x="-422661" y="47575"/>
            <a:ext cx="552998" cy="331512"/>
          </a:xfrm>
        </p:spPr>
        <p:txBody>
          <a:bodyPr>
            <a:normAutofit fontScale="90000"/>
          </a:bodyPr>
          <a:lstStyle/>
          <a:p>
            <a:endParaRPr lang="en-US" dirty="0"/>
          </a:p>
        </p:txBody>
      </p:sp>
      <p:sp>
        <p:nvSpPr>
          <p:cNvPr id="3" name="Content Placeholder 2"/>
          <p:cNvSpPr>
            <a:spLocks noGrp="1"/>
          </p:cNvSpPr>
          <p:nvPr>
            <p:ph idx="1"/>
          </p:nvPr>
        </p:nvSpPr>
        <p:spPr/>
        <p:txBody>
          <a:bodyPr/>
          <a:lstStyle/>
          <a:p>
            <a:r>
              <a:rPr lang="en-US" b="1" dirty="0"/>
              <a:t>Historiographical Contributions</a:t>
            </a:r>
          </a:p>
          <a:p>
            <a:r>
              <a:rPr lang="en-US" dirty="0"/>
              <a:t>Introduced a more analytical approach to history by emphasizing cause-and-effect relationships in political developments.</a:t>
            </a:r>
          </a:p>
          <a:p>
            <a:r>
              <a:rPr lang="en-US" dirty="0"/>
              <a:t>His works provide insights into courtly culture, social hierarchies, and the role of religion in politics.</a:t>
            </a:r>
          </a:p>
          <a:p>
            <a:endParaRPr lang="en-US" dirty="0"/>
          </a:p>
        </p:txBody>
      </p:sp>
    </p:spTree>
    <p:extLst>
      <p:ext uri="{BB962C8B-B14F-4D97-AF65-F5344CB8AC3E}">
        <p14:creationId xmlns:p14="http://schemas.microsoft.com/office/powerpoint/2010/main" val="3838570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 BIRUNI:</a:t>
            </a:r>
          </a:p>
        </p:txBody>
      </p:sp>
      <p:sp>
        <p:nvSpPr>
          <p:cNvPr id="3" name="Content Placeholder 2"/>
          <p:cNvSpPr>
            <a:spLocks noGrp="1"/>
          </p:cNvSpPr>
          <p:nvPr>
            <p:ph idx="1"/>
          </p:nvPr>
        </p:nvSpPr>
        <p:spPr/>
        <p:txBody>
          <a:bodyPr>
            <a:normAutofit lnSpcReduction="10000"/>
          </a:bodyPr>
          <a:lstStyle/>
          <a:p>
            <a:r>
              <a:rPr lang="en-US" b="1" dirty="0">
                <a:solidFill>
                  <a:schemeClr val="accent1">
                    <a:lumMod val="75000"/>
                  </a:schemeClr>
                </a:solidFill>
              </a:rPr>
              <a:t>Introduction</a:t>
            </a:r>
          </a:p>
          <a:p>
            <a:r>
              <a:rPr lang="en-US" dirty="0"/>
              <a:t>Full Name: Abu </a:t>
            </a:r>
            <a:r>
              <a:rPr lang="en-US" dirty="0" err="1"/>
              <a:t>Rayhan</a:t>
            </a:r>
            <a:r>
              <a:rPr lang="en-US" dirty="0"/>
              <a:t> Muhammad </a:t>
            </a:r>
            <a:r>
              <a:rPr lang="en-US" dirty="0" err="1"/>
              <a:t>ibn</a:t>
            </a:r>
            <a:r>
              <a:rPr lang="en-US" dirty="0"/>
              <a:t> Ahmad Al-</a:t>
            </a:r>
            <a:r>
              <a:rPr lang="en-US" dirty="0" err="1"/>
              <a:t>Biruni</a:t>
            </a:r>
            <a:endParaRPr lang="en-US" dirty="0"/>
          </a:p>
          <a:p>
            <a:r>
              <a:rPr lang="en-US" dirty="0"/>
              <a:t>Born: 973 CE in Kath, </a:t>
            </a:r>
            <a:r>
              <a:rPr lang="en-US" dirty="0" err="1"/>
              <a:t>Khwarezm</a:t>
            </a:r>
            <a:r>
              <a:rPr lang="en-US" dirty="0"/>
              <a:t> (modern Uzbekistan)</a:t>
            </a:r>
          </a:p>
          <a:p>
            <a:r>
              <a:rPr lang="en-US" dirty="0"/>
              <a:t>Died: 1048 CE in </a:t>
            </a:r>
            <a:r>
              <a:rPr lang="en-US" dirty="0" err="1"/>
              <a:t>Ghazni</a:t>
            </a:r>
            <a:r>
              <a:rPr lang="en-US" dirty="0"/>
              <a:t> (modern Afghanistan)</a:t>
            </a:r>
          </a:p>
          <a:p>
            <a:r>
              <a:rPr lang="en-US" dirty="0"/>
              <a:t>Fields of Work: History, Geography, Mathematics, Astronomy, Physics, Medicine, and Linguistics.</a:t>
            </a:r>
          </a:p>
          <a:p>
            <a:pPr>
              <a:buFont typeface="Arial"/>
              <a:buChar char="•"/>
            </a:pPr>
            <a:r>
              <a:rPr lang="en-US" dirty="0">
                <a:solidFill>
                  <a:srgbClr val="0D0D0D"/>
                </a:solidFill>
                <a:latin typeface="ui-sans-serif"/>
              </a:rPr>
              <a:t>Studied various subjects, including philosophy, astronomy, and languages (Persian, Arabic, Sanskrit, Greek, and </a:t>
            </a:r>
            <a:r>
              <a:rPr lang="en-US" dirty="0" err="1">
                <a:solidFill>
                  <a:srgbClr val="0D0D0D"/>
                </a:solidFill>
                <a:latin typeface="ui-sans-serif"/>
              </a:rPr>
              <a:t>Syriac</a:t>
            </a:r>
            <a:r>
              <a:rPr lang="en-US" dirty="0">
                <a:solidFill>
                  <a:srgbClr val="0D0D0D"/>
                </a:solidFill>
                <a:latin typeface="ui-sans-serif"/>
              </a:rPr>
              <a:t>).</a:t>
            </a:r>
          </a:p>
          <a:p>
            <a:pPr>
              <a:buFont typeface="Arial"/>
              <a:buChar char="•"/>
            </a:pPr>
            <a:r>
              <a:rPr lang="en-US" dirty="0">
                <a:solidFill>
                  <a:srgbClr val="0D0D0D"/>
                </a:solidFill>
                <a:latin typeface="ui-sans-serif"/>
              </a:rPr>
              <a:t>Lived under the patronage of different rulers, including the </a:t>
            </a:r>
            <a:r>
              <a:rPr lang="en-US" dirty="0" err="1">
                <a:solidFill>
                  <a:srgbClr val="0D0D0D"/>
                </a:solidFill>
                <a:latin typeface="ui-sans-serif"/>
              </a:rPr>
              <a:t>Ghaznavid</a:t>
            </a:r>
            <a:r>
              <a:rPr lang="en-US" dirty="0">
                <a:solidFill>
                  <a:srgbClr val="0D0D0D"/>
                </a:solidFill>
                <a:latin typeface="ui-sans-serif"/>
              </a:rPr>
              <a:t> Sultan Mahmud of </a:t>
            </a:r>
            <a:r>
              <a:rPr lang="en-US" dirty="0" err="1">
                <a:solidFill>
                  <a:srgbClr val="0D0D0D"/>
                </a:solidFill>
                <a:latin typeface="ui-sans-serif"/>
              </a:rPr>
              <a:t>Ghazni</a:t>
            </a:r>
            <a:r>
              <a:rPr lang="en-US" dirty="0">
                <a:solidFill>
                  <a:srgbClr val="0D0D0D"/>
                </a:solidFill>
                <a:latin typeface="ui-sans-serif"/>
              </a:rPr>
              <a:t>.</a:t>
            </a:r>
          </a:p>
          <a:p>
            <a:pPr>
              <a:buFont typeface="Arial"/>
              <a:buChar char="•"/>
            </a:pPr>
            <a:endParaRPr lang="en-US" dirty="0">
              <a:solidFill>
                <a:srgbClr val="0D0D0D"/>
              </a:solidFill>
              <a:latin typeface="ui-sans-serif"/>
            </a:endParaRPr>
          </a:p>
          <a:p>
            <a:endParaRPr lang="en-US" dirty="0"/>
          </a:p>
        </p:txBody>
      </p:sp>
    </p:spTree>
    <p:extLst>
      <p:ext uri="{BB962C8B-B14F-4D97-AF65-F5344CB8AC3E}">
        <p14:creationId xmlns:p14="http://schemas.microsoft.com/office/powerpoint/2010/main" val="1683983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78" y="177421"/>
            <a:ext cx="7915701" cy="6680580"/>
          </a:xfrm>
        </p:spPr>
        <p:txBody>
          <a:bodyPr>
            <a:noAutofit/>
          </a:bodyPr>
          <a:lstStyle/>
          <a:p>
            <a:r>
              <a:rPr lang="en-US" sz="2800" b="1" dirty="0">
                <a:solidFill>
                  <a:schemeClr val="accent1">
                    <a:lumMod val="75000"/>
                  </a:schemeClr>
                </a:solidFill>
              </a:rPr>
              <a:t>Contributions to Science and Other Fields</a:t>
            </a:r>
            <a:br>
              <a:rPr lang="en-US" sz="2800" b="1" dirty="0"/>
            </a:br>
            <a:r>
              <a:rPr lang="en-US" sz="2800" b="1" dirty="0"/>
              <a:t>1. </a:t>
            </a:r>
            <a:r>
              <a:rPr lang="en-US" sz="2800" b="1" dirty="0">
                <a:solidFill>
                  <a:srgbClr val="FF0000"/>
                </a:solidFill>
              </a:rPr>
              <a:t>Astronomy and Mathematics</a:t>
            </a:r>
            <a:br>
              <a:rPr lang="en-US" sz="2800" b="1" dirty="0"/>
            </a:br>
            <a:r>
              <a:rPr lang="en-US" sz="2800" dirty="0"/>
              <a:t>Accurately calculated the Earth’s circumference.</a:t>
            </a:r>
            <a:br>
              <a:rPr lang="en-US" sz="2800" dirty="0"/>
            </a:br>
            <a:r>
              <a:rPr lang="en-US" sz="2800" dirty="0"/>
              <a:t>Developed trigonometric methods for astronomical calculations.</a:t>
            </a:r>
            <a:br>
              <a:rPr lang="en-US" sz="2800" dirty="0"/>
            </a:br>
            <a:r>
              <a:rPr lang="en-US" sz="2800" b="1" dirty="0"/>
              <a:t>2. </a:t>
            </a:r>
            <a:r>
              <a:rPr lang="en-US" sz="2800" b="1" dirty="0">
                <a:solidFill>
                  <a:srgbClr val="FF0000"/>
                </a:solidFill>
              </a:rPr>
              <a:t>Geography and Cartography</a:t>
            </a:r>
            <a:br>
              <a:rPr lang="en-US" sz="2800" b="1" dirty="0"/>
            </a:br>
            <a:r>
              <a:rPr lang="en-US" sz="2800" dirty="0"/>
              <a:t>Proposed the idea that the Indian Ocean and Atlantic Ocean were connected.</a:t>
            </a:r>
            <a:br>
              <a:rPr lang="en-US" sz="2800" dirty="0"/>
            </a:br>
            <a:r>
              <a:rPr lang="en-US" sz="2800" dirty="0"/>
              <a:t>Mapped various regions and studied their climates.</a:t>
            </a:r>
            <a:br>
              <a:rPr lang="en-US" sz="2800" dirty="0"/>
            </a:br>
            <a:r>
              <a:rPr lang="en-US" sz="2800" b="1" dirty="0"/>
              <a:t>3. </a:t>
            </a:r>
            <a:r>
              <a:rPr lang="en-US" sz="2800" b="1" dirty="0">
                <a:solidFill>
                  <a:srgbClr val="FF0000"/>
                </a:solidFill>
              </a:rPr>
              <a:t>Medicine and Physics</a:t>
            </a:r>
            <a:br>
              <a:rPr lang="en-US" sz="2800" b="1" dirty="0"/>
            </a:br>
            <a:r>
              <a:rPr lang="en-US" sz="2800" dirty="0"/>
              <a:t>Studied human anatomy, diseases, and medicinal plants.</a:t>
            </a:r>
            <a:br>
              <a:rPr lang="en-US" sz="2800" dirty="0"/>
            </a:br>
            <a:r>
              <a:rPr lang="en-US" sz="2800" dirty="0"/>
              <a:t>Discussed gravity and the concept of acceleration.</a:t>
            </a:r>
            <a:br>
              <a:rPr lang="en-US" sz="2800" dirty="0"/>
            </a:br>
            <a:endParaRPr lang="en-US" sz="2800"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62499" y="2027984"/>
            <a:ext cx="3810000" cy="421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8640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81" y="365125"/>
            <a:ext cx="11859905" cy="6390517"/>
          </a:xfrm>
        </p:spPr>
        <p:txBody>
          <a:bodyPr>
            <a:normAutofit/>
          </a:bodyPr>
          <a:lstStyle/>
          <a:p>
            <a:r>
              <a:rPr lang="en-US" sz="2800" b="1" dirty="0"/>
              <a:t>Major Contributions to History</a:t>
            </a:r>
            <a:br>
              <a:rPr lang="en-US" sz="2800" b="1" dirty="0"/>
            </a:br>
            <a:r>
              <a:rPr lang="en-US" sz="2800" b="1" dirty="0"/>
              <a:t>1. </a:t>
            </a:r>
            <a:r>
              <a:rPr lang="en-US" sz="2800" b="1" dirty="0" err="1">
                <a:solidFill>
                  <a:srgbClr val="FF0000"/>
                </a:solidFill>
              </a:rPr>
              <a:t>Kitab</a:t>
            </a:r>
            <a:r>
              <a:rPr lang="en-US" sz="2800" b="1" dirty="0">
                <a:solidFill>
                  <a:srgbClr val="FF0000"/>
                </a:solidFill>
              </a:rPr>
              <a:t> </a:t>
            </a:r>
            <a:r>
              <a:rPr lang="en-US" sz="2800" b="1" dirty="0" err="1">
                <a:solidFill>
                  <a:srgbClr val="FF0000"/>
                </a:solidFill>
              </a:rPr>
              <a:t>Tarikh</a:t>
            </a:r>
            <a:r>
              <a:rPr lang="en-US" sz="2800" b="1" dirty="0">
                <a:solidFill>
                  <a:srgbClr val="FF0000"/>
                </a:solidFill>
              </a:rPr>
              <a:t> al-Hind (History of India)</a:t>
            </a:r>
            <a:br>
              <a:rPr lang="en-US" sz="2800" b="1" dirty="0"/>
            </a:br>
            <a:r>
              <a:rPr lang="en-US" sz="2800" dirty="0"/>
              <a:t>A comprehensive study of Indian culture, history, and religion.</a:t>
            </a:r>
            <a:br>
              <a:rPr lang="en-US" sz="2800" dirty="0"/>
            </a:br>
            <a:r>
              <a:rPr lang="en-US" sz="2800" dirty="0"/>
              <a:t>Based on his travels in India and interactions with scholars.</a:t>
            </a:r>
            <a:br>
              <a:rPr lang="en-US" sz="2800" dirty="0"/>
            </a:br>
            <a:r>
              <a:rPr lang="en-US" sz="2800" dirty="0"/>
              <a:t>Provided detailed observations on Hinduism, caste system, social customs, and sciences.</a:t>
            </a:r>
            <a:br>
              <a:rPr lang="en-US" sz="2800" dirty="0"/>
            </a:br>
            <a:r>
              <a:rPr lang="en-US" sz="2800" dirty="0"/>
              <a:t>Compared Indian knowledge with Greek and Islamic traditions.</a:t>
            </a:r>
            <a:br>
              <a:rPr lang="en-US" sz="2800" dirty="0"/>
            </a:br>
            <a:r>
              <a:rPr lang="en-US" sz="2800" b="1" dirty="0"/>
              <a:t>2. </a:t>
            </a:r>
            <a:r>
              <a:rPr lang="en-US" sz="2800" b="1" dirty="0">
                <a:solidFill>
                  <a:srgbClr val="FF0000"/>
                </a:solidFill>
              </a:rPr>
              <a:t>Chronology of Ancient Nations</a:t>
            </a:r>
            <a:br>
              <a:rPr lang="en-US" sz="2800" b="1" dirty="0">
                <a:solidFill>
                  <a:srgbClr val="FF0000"/>
                </a:solidFill>
              </a:rPr>
            </a:br>
            <a:r>
              <a:rPr lang="en-US" sz="2800" dirty="0"/>
              <a:t>A historical and chronological account of different civilizations, including Persians, Greeks, Romans, and Indians.</a:t>
            </a:r>
            <a:br>
              <a:rPr lang="en-US" sz="2800" dirty="0"/>
            </a:br>
            <a:r>
              <a:rPr lang="en-US" sz="2800" dirty="0"/>
              <a:t>Attempted to synchronize historical events across different cultures.</a:t>
            </a:r>
            <a:br>
              <a:rPr lang="en-US" sz="2800" dirty="0"/>
            </a:br>
            <a:r>
              <a:rPr lang="en-US" sz="2800" b="1" dirty="0"/>
              <a:t>3. </a:t>
            </a:r>
            <a:r>
              <a:rPr lang="en-US" sz="2800" b="1" dirty="0">
                <a:solidFill>
                  <a:srgbClr val="FF0000"/>
                </a:solidFill>
              </a:rPr>
              <a:t>Contributions to Historiography</a:t>
            </a:r>
            <a:br>
              <a:rPr lang="en-US" sz="2800" b="1" dirty="0"/>
            </a:br>
            <a:r>
              <a:rPr lang="en-US" sz="2800" dirty="0"/>
              <a:t>Used a scientific and objective approach in historical writing.</a:t>
            </a:r>
            <a:br>
              <a:rPr lang="en-US" sz="2800" dirty="0"/>
            </a:br>
            <a:r>
              <a:rPr lang="en-US" sz="2800" dirty="0"/>
              <a:t>Relied on first-hand observations and cross-cultural comparisons.</a:t>
            </a:r>
            <a:br>
              <a:rPr lang="en-US" sz="2800" dirty="0"/>
            </a:br>
            <a:r>
              <a:rPr lang="en-US" sz="2800" dirty="0"/>
              <a:t>Avoided bias by verifying sources before documenting history.</a:t>
            </a:r>
            <a:br>
              <a:rPr lang="en-US" sz="2800" dirty="0"/>
            </a:br>
            <a:endParaRPr lang="en-US" sz="2800" dirty="0"/>
          </a:p>
        </p:txBody>
      </p:sp>
    </p:spTree>
    <p:extLst>
      <p:ext uri="{BB962C8B-B14F-4D97-AF65-F5344CB8AC3E}">
        <p14:creationId xmlns:p14="http://schemas.microsoft.com/office/powerpoint/2010/main" val="52092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3BF34-C163-4D33-9EEC-815F919A104F}"/>
              </a:ext>
            </a:extLst>
          </p:cNvPr>
          <p:cNvSpPr>
            <a:spLocks noGrp="1"/>
          </p:cNvSpPr>
          <p:nvPr>
            <p:ph type="ctrTitle"/>
          </p:nvPr>
        </p:nvSpPr>
        <p:spPr>
          <a:xfrm>
            <a:off x="1326037" y="169683"/>
            <a:ext cx="9144000" cy="1150070"/>
          </a:xfrm>
        </p:spPr>
        <p:txBody>
          <a:bodyPr/>
          <a:lstStyle/>
          <a:p>
            <a:r>
              <a:rPr lang="en-US" dirty="0">
                <a:solidFill>
                  <a:schemeClr val="accent1"/>
                </a:solidFill>
              </a:rPr>
              <a:t>YAHYA IBN AHMAD SIRHINDI</a:t>
            </a:r>
          </a:p>
        </p:txBody>
      </p:sp>
      <p:sp>
        <p:nvSpPr>
          <p:cNvPr id="3" name="Subtitle 2">
            <a:extLst>
              <a:ext uri="{FF2B5EF4-FFF2-40B4-BE49-F238E27FC236}">
                <a16:creationId xmlns:a16="http://schemas.microsoft.com/office/drawing/2014/main" id="{FC0F600C-888D-4F31-A906-80CFDAD0C741}"/>
              </a:ext>
            </a:extLst>
          </p:cNvPr>
          <p:cNvSpPr>
            <a:spLocks noGrp="1"/>
          </p:cNvSpPr>
          <p:nvPr>
            <p:ph type="subTitle" idx="1"/>
          </p:nvPr>
        </p:nvSpPr>
        <p:spPr>
          <a:xfrm>
            <a:off x="292231" y="1555423"/>
            <a:ext cx="10375769" cy="4920791"/>
          </a:xfrm>
        </p:spPr>
        <p:txBody>
          <a:bodyPr/>
          <a:lstStyle/>
          <a:p>
            <a:pPr marL="342900" indent="-342900" algn="l">
              <a:buFont typeface="Arial" panose="020B0604020202020204" pitchFamily="34" charset="0"/>
              <a:buChar char="•"/>
            </a:pPr>
            <a:endParaRPr lang="en-US" b="1" dirty="0"/>
          </a:p>
          <a:p>
            <a:pPr marL="342900" indent="-342900" algn="l">
              <a:buFont typeface="Arial" panose="020B0604020202020204" pitchFamily="34" charset="0"/>
              <a:buChar char="•"/>
            </a:pPr>
            <a:r>
              <a:rPr lang="en-US" b="1" dirty="0"/>
              <a:t>Full Name</a:t>
            </a:r>
            <a:r>
              <a:rPr lang="en-US" dirty="0"/>
              <a:t>: Yahya ibn Ahmad al-</a:t>
            </a:r>
            <a:r>
              <a:rPr lang="en-US" dirty="0" err="1"/>
              <a:t>Sirhindi</a:t>
            </a:r>
            <a:endParaRPr lang="en-US" dirty="0"/>
          </a:p>
          <a:p>
            <a:pPr marL="342900" indent="-342900" algn="l">
              <a:buFont typeface="Arial" panose="020B0604020202020204" pitchFamily="34" charset="0"/>
              <a:buChar char="•"/>
            </a:pPr>
            <a:r>
              <a:rPr lang="en-US" b="1" dirty="0"/>
              <a:t>Era</a:t>
            </a:r>
            <a:r>
              <a:rPr lang="en-US" dirty="0"/>
              <a:t>: Late 14th to early 15th century (Timurid period)</a:t>
            </a:r>
          </a:p>
          <a:p>
            <a:pPr marL="342900" indent="-342900" algn="l">
              <a:buFont typeface="Arial" panose="020B0604020202020204" pitchFamily="34" charset="0"/>
              <a:buChar char="•"/>
            </a:pPr>
            <a:r>
              <a:rPr lang="en-US" b="1" dirty="0"/>
              <a:t>Region</a:t>
            </a:r>
            <a:r>
              <a:rPr lang="en-US" dirty="0"/>
              <a:t>: </a:t>
            </a:r>
            <a:r>
              <a:rPr lang="en-US" dirty="0" err="1"/>
              <a:t>Sirhind</a:t>
            </a:r>
            <a:r>
              <a:rPr lang="en-US" dirty="0"/>
              <a:t> (modern-day Punjab, India)</a:t>
            </a:r>
          </a:p>
          <a:p>
            <a:pPr marL="342900" indent="-342900" algn="l">
              <a:buFont typeface="Arial" panose="020B0604020202020204" pitchFamily="34" charset="0"/>
              <a:buChar char="•"/>
            </a:pPr>
            <a:r>
              <a:rPr lang="en-US" b="1" dirty="0"/>
              <a:t>Background</a:t>
            </a:r>
            <a:r>
              <a:rPr lang="en-US" dirty="0"/>
              <a:t>: A prominent historian and scholar during the Timurid era in India.</a:t>
            </a:r>
          </a:p>
          <a:p>
            <a:pPr marL="342900" indent="-342900" algn="l">
              <a:buFont typeface="Arial" panose="020B0604020202020204" pitchFamily="34" charset="0"/>
              <a:buChar char="•"/>
            </a:pPr>
            <a:r>
              <a:rPr lang="en-US" b="1" dirty="0"/>
              <a:t>Birth and Early Life</a:t>
            </a:r>
            <a:r>
              <a:rPr lang="en-US" dirty="0"/>
              <a:t>: Born in </a:t>
            </a:r>
            <a:r>
              <a:rPr lang="en-US" dirty="0" err="1"/>
              <a:t>Sirhind</a:t>
            </a:r>
            <a:r>
              <a:rPr lang="en-US" dirty="0"/>
              <a:t>, a historically significant city in Punjab, India.</a:t>
            </a:r>
          </a:p>
          <a:p>
            <a:pPr marL="342900" indent="-342900" algn="l">
              <a:buFont typeface="Arial" panose="020B0604020202020204" pitchFamily="34" charset="0"/>
              <a:buChar char="•"/>
            </a:pPr>
            <a:r>
              <a:rPr lang="en-US" b="1" dirty="0"/>
              <a:t>Timurid Connection</a:t>
            </a:r>
            <a:r>
              <a:rPr lang="en-US" dirty="0"/>
              <a:t>: Lived during the reign of Timur (Tamerlane) and his successors, a period marked by political upheaval and cultural flourishing.</a:t>
            </a:r>
          </a:p>
          <a:p>
            <a:pPr marL="342900" indent="-342900" algn="l">
              <a:buFont typeface="Arial" panose="020B0604020202020204" pitchFamily="34" charset="0"/>
              <a:buChar char="•"/>
            </a:pPr>
            <a:r>
              <a:rPr lang="en-US" b="1" dirty="0"/>
              <a:t>Role</a:t>
            </a:r>
            <a:r>
              <a:rPr lang="en-US" dirty="0"/>
              <a:t>: Served as a historian and chronicler, documenting the events of his time.</a:t>
            </a:r>
          </a:p>
          <a:p>
            <a:pPr marL="457200" indent="-457200" algn="l">
              <a:buFont typeface="Wingdings" panose="05000000000000000000" pitchFamily="2" charset="2"/>
              <a:buChar char="§"/>
            </a:pPr>
            <a:endParaRPr lang="en-US" dirty="0"/>
          </a:p>
        </p:txBody>
      </p:sp>
      <p:pic>
        <p:nvPicPr>
          <p:cNvPr id="4" name="Picture 2" descr="Ahmad Sirhindi - Wikipedia">
            <a:extLst>
              <a:ext uri="{FF2B5EF4-FFF2-40B4-BE49-F238E27FC236}">
                <a16:creationId xmlns:a16="http://schemas.microsoft.com/office/drawing/2014/main" id="{1B87B986-42A0-4C55-B281-7B38A0C076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1382" y="1251408"/>
            <a:ext cx="1667431" cy="2177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662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C6D1D-F948-42B3-B1A2-93E7EBF8F18C}"/>
              </a:ext>
            </a:extLst>
          </p:cNvPr>
          <p:cNvSpPr>
            <a:spLocks noGrp="1"/>
          </p:cNvSpPr>
          <p:nvPr>
            <p:ph type="title"/>
          </p:nvPr>
        </p:nvSpPr>
        <p:spPr>
          <a:xfrm>
            <a:off x="216816" y="365125"/>
            <a:ext cx="11136984" cy="6026248"/>
          </a:xfrm>
        </p:spPr>
        <p:txBody>
          <a:bodyPr>
            <a:noAutofit/>
          </a:bodyPr>
          <a:lstStyle/>
          <a:p>
            <a:r>
              <a:rPr lang="en-US" sz="2400" b="1" dirty="0">
                <a:latin typeface="+mn-lt"/>
              </a:rPr>
              <a:t> </a:t>
            </a:r>
            <a:r>
              <a:rPr lang="en-US" sz="2400" b="1" dirty="0">
                <a:solidFill>
                  <a:schemeClr val="accent1"/>
                </a:solidFill>
                <a:latin typeface="+mn-lt"/>
              </a:rPr>
              <a:t>Major Work</a:t>
            </a:r>
            <a:r>
              <a:rPr lang="en-US" sz="2400" b="1" dirty="0">
                <a:latin typeface="+mn-lt"/>
              </a:rPr>
              <a:t>: </a:t>
            </a:r>
            <a:r>
              <a:rPr lang="en-US" sz="2400" b="1" i="1" dirty="0">
                <a:solidFill>
                  <a:srgbClr val="FF0000"/>
                </a:solidFill>
                <a:latin typeface="+mn-lt"/>
              </a:rPr>
              <a:t>Tarikh-</a:t>
            </a:r>
            <a:r>
              <a:rPr lang="en-US" sz="2400" b="1" i="1" dirty="0" err="1">
                <a:solidFill>
                  <a:srgbClr val="FF0000"/>
                </a:solidFill>
                <a:latin typeface="+mn-lt"/>
              </a:rPr>
              <a:t>i</a:t>
            </a:r>
            <a:r>
              <a:rPr lang="en-US" sz="2400" b="1" i="1" dirty="0">
                <a:solidFill>
                  <a:srgbClr val="FF0000"/>
                </a:solidFill>
                <a:latin typeface="+mn-lt"/>
              </a:rPr>
              <a:t> Mubarak Shahi</a:t>
            </a:r>
            <a:br>
              <a:rPr lang="en-US" sz="2400" b="1" dirty="0">
                <a:latin typeface="+mn-lt"/>
              </a:rPr>
            </a:br>
            <a:r>
              <a:rPr lang="en-US" sz="2400" b="1" dirty="0">
                <a:latin typeface="+mn-lt"/>
              </a:rPr>
              <a:t>Title</a:t>
            </a:r>
            <a:r>
              <a:rPr lang="en-US" sz="2400" dirty="0">
                <a:latin typeface="+mn-lt"/>
              </a:rPr>
              <a:t>: </a:t>
            </a:r>
            <a:r>
              <a:rPr lang="en-US" sz="2400" i="1" dirty="0">
                <a:latin typeface="+mn-lt"/>
              </a:rPr>
              <a:t>Tarikh-</a:t>
            </a:r>
            <a:r>
              <a:rPr lang="en-US" sz="2400" i="1" dirty="0" err="1">
                <a:latin typeface="+mn-lt"/>
              </a:rPr>
              <a:t>i</a:t>
            </a:r>
            <a:r>
              <a:rPr lang="en-US" sz="2400" i="1" dirty="0">
                <a:latin typeface="+mn-lt"/>
              </a:rPr>
              <a:t> Mubarak Shahi</a:t>
            </a:r>
            <a:r>
              <a:rPr lang="en-US" sz="2400" dirty="0">
                <a:latin typeface="+mn-lt"/>
              </a:rPr>
              <a:t> (The History of Mubarak Shah)</a:t>
            </a:r>
            <a:br>
              <a:rPr lang="en-US" sz="2400" dirty="0">
                <a:latin typeface="+mn-lt"/>
              </a:rPr>
            </a:br>
            <a:r>
              <a:rPr lang="en-US" sz="2400" b="1" dirty="0">
                <a:latin typeface="+mn-lt"/>
              </a:rPr>
              <a:t>Dedication</a:t>
            </a:r>
            <a:r>
              <a:rPr lang="en-US" sz="2400" dirty="0">
                <a:latin typeface="+mn-lt"/>
              </a:rPr>
              <a:t>: Named after Mubarak Shah, the second ruler of the Sayyid dynasty of Delhi.</a:t>
            </a:r>
            <a:br>
              <a:rPr lang="en-US" sz="2400" dirty="0">
                <a:latin typeface="+mn-lt"/>
              </a:rPr>
            </a:br>
            <a:r>
              <a:rPr lang="en-US" sz="2400" b="1" dirty="0">
                <a:latin typeface="+mn-lt"/>
              </a:rPr>
              <a:t>Content</a:t>
            </a:r>
            <a:r>
              <a:rPr lang="en-US" sz="2400" dirty="0">
                <a:latin typeface="+mn-lt"/>
              </a:rPr>
              <a:t>:</a:t>
            </a:r>
            <a:br>
              <a:rPr lang="en-US" sz="2400" dirty="0">
                <a:latin typeface="+mn-lt"/>
              </a:rPr>
            </a:br>
            <a:r>
              <a:rPr lang="en-US" sz="2400" dirty="0">
                <a:latin typeface="+mn-lt"/>
              </a:rPr>
              <a:t>Covers the history of India from the early Muslim conquests (12th century) to the reign of Mubarak Shah (early 15th century).</a:t>
            </a:r>
            <a:br>
              <a:rPr lang="en-US" sz="2400" dirty="0">
                <a:latin typeface="+mn-lt"/>
              </a:rPr>
            </a:br>
            <a:r>
              <a:rPr lang="en-US" sz="2400" dirty="0">
                <a:latin typeface="+mn-lt"/>
              </a:rPr>
              <a:t>Provides detailed accounts of the Delhi Sultanate, including the Ghaznavid, </a:t>
            </a:r>
            <a:r>
              <a:rPr lang="en-US" sz="2400" dirty="0" err="1">
                <a:latin typeface="+mn-lt"/>
              </a:rPr>
              <a:t>Ghurid</a:t>
            </a:r>
            <a:r>
              <a:rPr lang="en-US" sz="2400" dirty="0">
                <a:latin typeface="+mn-lt"/>
              </a:rPr>
              <a:t>, and Timurid periods.</a:t>
            </a:r>
            <a:br>
              <a:rPr lang="en-US" sz="2400" dirty="0">
                <a:latin typeface="+mn-lt"/>
              </a:rPr>
            </a:br>
            <a:r>
              <a:rPr lang="en-US" sz="2400" dirty="0">
                <a:latin typeface="+mn-lt"/>
              </a:rPr>
              <a:t>Focuses on political events, dynastic changes, and the socio-cultural landscape of medieval India.</a:t>
            </a:r>
            <a:br>
              <a:rPr lang="en-US" sz="2400" dirty="0">
                <a:latin typeface="+mn-lt"/>
              </a:rPr>
            </a:br>
            <a:r>
              <a:rPr lang="en-US" sz="2400" b="1" dirty="0">
                <a:latin typeface="+mn-lt"/>
              </a:rPr>
              <a:t>Significance</a:t>
            </a:r>
            <a:r>
              <a:rPr lang="en-US" sz="2400" dirty="0">
                <a:latin typeface="+mn-lt"/>
              </a:rPr>
              <a:t>:</a:t>
            </a:r>
            <a:br>
              <a:rPr lang="en-US" sz="2400" dirty="0">
                <a:latin typeface="+mn-lt"/>
              </a:rPr>
            </a:br>
            <a:r>
              <a:rPr lang="en-US" sz="2400" dirty="0">
                <a:latin typeface="+mn-lt"/>
              </a:rPr>
              <a:t>One of the most important primary sources for the history of the Delhi Sultanate.</a:t>
            </a:r>
            <a:br>
              <a:rPr lang="en-US" sz="2400" dirty="0">
                <a:latin typeface="+mn-lt"/>
              </a:rPr>
            </a:br>
            <a:r>
              <a:rPr lang="en-US" sz="2400" dirty="0">
                <a:latin typeface="+mn-lt"/>
              </a:rPr>
              <a:t>Offers insights into the administration, military campaigns, and cultural developments of the time.</a:t>
            </a:r>
            <a:br>
              <a:rPr lang="en-US" sz="2400" dirty="0">
                <a:latin typeface="+mn-lt"/>
              </a:rPr>
            </a:br>
            <a:br>
              <a:rPr lang="en-US" sz="2400" dirty="0">
                <a:latin typeface="+mn-lt"/>
              </a:rPr>
            </a:br>
            <a:endParaRPr lang="en-US" sz="2400" dirty="0">
              <a:latin typeface="+mn-lt"/>
            </a:endParaRPr>
          </a:p>
        </p:txBody>
      </p:sp>
    </p:spTree>
    <p:extLst>
      <p:ext uri="{BB962C8B-B14F-4D97-AF65-F5344CB8AC3E}">
        <p14:creationId xmlns:p14="http://schemas.microsoft.com/office/powerpoint/2010/main" val="1377033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7BCB-B287-4015-B9A7-F7DB0CCDCC58}"/>
              </a:ext>
            </a:extLst>
          </p:cNvPr>
          <p:cNvSpPr>
            <a:spLocks noGrp="1"/>
          </p:cNvSpPr>
          <p:nvPr>
            <p:ph type="title"/>
          </p:nvPr>
        </p:nvSpPr>
        <p:spPr>
          <a:xfrm>
            <a:off x="838200" y="365125"/>
            <a:ext cx="10515600" cy="6375039"/>
          </a:xfrm>
        </p:spPr>
        <p:txBody>
          <a:bodyPr>
            <a:noAutofit/>
          </a:bodyPr>
          <a:lstStyle/>
          <a:p>
            <a:r>
              <a:rPr lang="en-US" sz="2400" b="1" dirty="0">
                <a:latin typeface="+mn-lt"/>
              </a:rPr>
              <a:t>Contributions to History</a:t>
            </a:r>
            <a:br>
              <a:rPr lang="en-US" sz="2400" b="1" dirty="0">
                <a:latin typeface="+mn-lt"/>
              </a:rPr>
            </a:br>
            <a:r>
              <a:rPr lang="en-US" sz="2400" b="1" dirty="0">
                <a:latin typeface="+mn-lt"/>
              </a:rPr>
              <a:t>Historical Documentation</a:t>
            </a:r>
            <a:r>
              <a:rPr lang="en-US" sz="2400" dirty="0">
                <a:latin typeface="+mn-lt"/>
              </a:rPr>
              <a:t>:</a:t>
            </a:r>
            <a:br>
              <a:rPr lang="en-US" sz="2400" dirty="0">
                <a:latin typeface="+mn-lt"/>
              </a:rPr>
            </a:br>
            <a:r>
              <a:rPr lang="en-US" sz="2400" dirty="0">
                <a:latin typeface="+mn-lt"/>
              </a:rPr>
              <a:t>Preserved valuable information about the Delhi Sultanate and its rulers.</a:t>
            </a:r>
            <a:br>
              <a:rPr lang="en-US" sz="2400" dirty="0">
                <a:latin typeface="+mn-lt"/>
              </a:rPr>
            </a:br>
            <a:r>
              <a:rPr lang="en-US" sz="2400" dirty="0">
                <a:latin typeface="+mn-lt"/>
              </a:rPr>
              <a:t>Highlighted the interactions between Central Asian and Indian cultures during the Timurid period.</a:t>
            </a:r>
            <a:br>
              <a:rPr lang="en-US" sz="2400" dirty="0">
                <a:latin typeface="+mn-lt"/>
              </a:rPr>
            </a:br>
            <a:r>
              <a:rPr lang="en-US" sz="2400" b="1" dirty="0">
                <a:latin typeface="+mn-lt"/>
              </a:rPr>
              <a:t>Cultural Insights</a:t>
            </a:r>
            <a:r>
              <a:rPr lang="en-US" sz="2400" dirty="0">
                <a:latin typeface="+mn-lt"/>
              </a:rPr>
              <a:t>:</a:t>
            </a:r>
            <a:br>
              <a:rPr lang="en-US" sz="2400" dirty="0">
                <a:latin typeface="+mn-lt"/>
              </a:rPr>
            </a:br>
            <a:r>
              <a:rPr lang="en-US" sz="2400" dirty="0">
                <a:latin typeface="+mn-lt"/>
              </a:rPr>
              <a:t>Provided a detailed account of the socio-religious conditions of medieval India.</a:t>
            </a:r>
            <a:br>
              <a:rPr lang="en-US" sz="2400" dirty="0">
                <a:latin typeface="+mn-lt"/>
              </a:rPr>
            </a:br>
            <a:r>
              <a:rPr lang="en-US" sz="2400" dirty="0">
                <a:latin typeface="+mn-lt"/>
              </a:rPr>
              <a:t>Documented the impact of Islamic rule on Indian society.</a:t>
            </a:r>
            <a:br>
              <a:rPr lang="en-US" sz="2400" dirty="0">
                <a:latin typeface="+mn-lt"/>
              </a:rPr>
            </a:br>
            <a:endParaRPr lang="en-US" sz="2400" dirty="0">
              <a:latin typeface="+mn-lt"/>
            </a:endParaRPr>
          </a:p>
        </p:txBody>
      </p:sp>
    </p:spTree>
    <p:extLst>
      <p:ext uri="{BB962C8B-B14F-4D97-AF65-F5344CB8AC3E}">
        <p14:creationId xmlns:p14="http://schemas.microsoft.com/office/powerpoint/2010/main" val="209011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2D020-B504-4EBF-8789-1D5A02989D77}"/>
              </a:ext>
            </a:extLst>
          </p:cNvPr>
          <p:cNvSpPr>
            <a:spLocks noGrp="1"/>
          </p:cNvSpPr>
          <p:nvPr>
            <p:ph type="title"/>
          </p:nvPr>
        </p:nvSpPr>
        <p:spPr>
          <a:xfrm>
            <a:off x="1932494" y="365125"/>
            <a:ext cx="10378911" cy="6563576"/>
          </a:xfrm>
        </p:spPr>
        <p:txBody>
          <a:bodyPr>
            <a:noAutofit/>
          </a:bodyPr>
          <a:lstStyle/>
          <a:p>
            <a:r>
              <a:rPr lang="en-US" sz="20000" dirty="0">
                <a:solidFill>
                  <a:srgbClr val="FFFF00"/>
                </a:solidFill>
              </a:rPr>
              <a:t>THA</a:t>
            </a:r>
            <a:r>
              <a:rPr lang="en-US" sz="20000" dirty="0">
                <a:solidFill>
                  <a:srgbClr val="0070C0"/>
                </a:solidFill>
              </a:rPr>
              <a:t>NKS</a:t>
            </a:r>
          </a:p>
        </p:txBody>
      </p:sp>
    </p:spTree>
    <p:extLst>
      <p:ext uri="{BB962C8B-B14F-4D97-AF65-F5344CB8AC3E}">
        <p14:creationId xmlns:p14="http://schemas.microsoft.com/office/powerpoint/2010/main" val="13653933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394</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ui-sans-serif</vt:lpstr>
      <vt:lpstr>Wingdings</vt:lpstr>
      <vt:lpstr>Office Theme</vt:lpstr>
      <vt:lpstr> Ziauddin Barani </vt:lpstr>
      <vt:lpstr>Major Works: </vt:lpstr>
      <vt:lpstr>PowerPoint Presentation</vt:lpstr>
      <vt:lpstr>AL BIRUNI:</vt:lpstr>
      <vt:lpstr>Contributions to Science and Other Fields 1. Astronomy and Mathematics Accurately calculated the Earth’s circumference. Developed trigonometric methods for astronomical calculations. 2. Geography and Cartography Proposed the idea that the Indian Ocean and Atlantic Ocean were connected. Mapped various regions and studied their climates. 3. Medicine and Physics Studied human anatomy, diseases, and medicinal plants. Discussed gravity and the concept of acceleration. </vt:lpstr>
      <vt:lpstr>Major Contributions to History 1. Kitab Tarikh al-Hind (History of India) A comprehensive study of Indian culture, history, and religion. Based on his travels in India and interactions with scholars. Provided detailed observations on Hinduism, caste system, social customs, and sciences. Compared Indian knowledge with Greek and Islamic traditions. 2. Chronology of Ancient Nations A historical and chronological account of different civilizations, including Persians, Greeks, Romans, and Indians. Attempted to synchronize historical events across different cultures. 3. Contributions to Historiography Used a scientific and objective approach in historical writing. Relied on first-hand observations and cross-cultural comparisons. Avoided bias by verifying sources before documenting history. </vt:lpstr>
      <vt:lpstr>YAHYA IBN AHMAD SIRHINDI</vt:lpstr>
      <vt:lpstr> Major Work: Tarikh-i Mubarak Shahi Title: Tarikh-i Mubarak Shahi (The History of Mubarak Shah) Dedication: Named after Mubarak Shah, the second ruler of the Sayyid dynasty of Delhi. Content: Covers the history of India from the early Muslim conquests (12th century) to the reign of Mubarak Shah (early 15th century). Provides detailed accounts of the Delhi Sultanate, including the Ghaznavid, Ghurid, and Timurid periods. Focuses on political events, dynastic changes, and the socio-cultural landscape of medieval India. Significance: One of the most important primary sources for the history of the Delhi Sultanate. Offers insights into the administration, military campaigns, and cultural developments of the time.  </vt:lpstr>
      <vt:lpstr>Contributions to History Historical Documentation: Preserved valuable information about the Delhi Sultanate and its rulers. Highlighted the interactions between Central Asian and Indian cultures during the Timurid period. Cultural Insights: Provided a detailed account of the socio-religious conditions of medieval India. Documented the impact of Islamic rule on Indian society.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Ziauddin Barani</dc:title>
  <dc:creator>hisanpk507@gmail.com</dc:creator>
  <cp:lastModifiedBy>ajmal mk</cp:lastModifiedBy>
  <cp:revision>5</cp:revision>
  <dcterms:created xsi:type="dcterms:W3CDTF">2025-01-31T06:19:07Z</dcterms:created>
  <dcterms:modified xsi:type="dcterms:W3CDTF">2025-02-02T04:47:34Z</dcterms:modified>
</cp:coreProperties>
</file>